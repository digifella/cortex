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801600" cy="9601200" type="A3"/>
  <p:notesSz cx="6858000" cy="9144000"/>
  <p:defaultTextStyle>
    <a:defPPr>
      <a:defRPr lang="en-US"/>
    </a:defPPr>
    <a:lvl1pPr marL="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vent Equipment" initials="E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750" y="408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982596"/>
            <a:ext cx="10881360" cy="205803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3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91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6169661"/>
            <a:ext cx="10881360" cy="190690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29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240281"/>
            <a:ext cx="5654040" cy="633634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2240281"/>
            <a:ext cx="5654040" cy="633634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40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5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5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213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74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914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03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17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52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384494"/>
            <a:ext cx="2880360" cy="81921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384494"/>
            <a:ext cx="8427720" cy="819213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3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AD08-009C-4F6C-A93D-196217BAEC65}" type="datetimeFigureOut">
              <a:rPr lang="en-AU" smtClean="0"/>
              <a:t>18/11/2011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898891"/>
            <a:ext cx="40538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E7B0F-8007-437B-9200-AFE4A0B0D0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736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60" rtl="0" eaLnBrk="1" latinLnBrk="0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0" hangingPunct="1">
        <a:spcBef>
          <a:spcPct val="20000"/>
        </a:spcBef>
        <a:buFont typeface="Arial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62675" y="1877075"/>
            <a:ext cx="9036217" cy="5443805"/>
          </a:xfrm>
          <a:prstGeom prst="rect">
            <a:avLst/>
          </a:prstGeom>
          <a:gradFill flip="none" rotWithShape="1">
            <a:gsLst>
              <a:gs pos="0">
                <a:srgbClr val="FF3399">
                  <a:lumMod val="82000"/>
                  <a:lumOff val="18000"/>
                  <a:alpha val="46000"/>
                </a:srgbClr>
              </a:gs>
              <a:gs pos="0">
                <a:srgbClr val="FF6633"/>
              </a:gs>
              <a:gs pos="62000">
                <a:srgbClr val="FFFF00"/>
              </a:gs>
              <a:gs pos="100000">
                <a:srgbClr val="01A78F"/>
              </a:gs>
              <a:gs pos="100000">
                <a:srgbClr val="3366FF">
                  <a:alpha val="19000"/>
                  <a:lumMod val="88000"/>
                  <a:lumOff val="12000"/>
                </a:srgbClr>
              </a:gs>
            </a:gsLst>
            <a:path path="rect">
              <a:fillToRect t="100000" r="100000"/>
            </a:path>
            <a:tileRect l="-100000" b="-100000"/>
          </a:gradFill>
          <a:ln w="12700">
            <a:solidFill>
              <a:srgbClr val="002060"/>
            </a:solidFill>
          </a:ln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05000"/>
              </a:lnSpc>
              <a:spcBef>
                <a:spcPct val="60000"/>
              </a:spcBef>
              <a:spcAft>
                <a:spcPct val="0"/>
              </a:spcAft>
            </a:pPr>
            <a:endParaRPr lang="en-AU" sz="2000"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61" y="264096"/>
            <a:ext cx="11521440" cy="786904"/>
          </a:xfrm>
        </p:spPr>
        <p:txBody>
          <a:bodyPr>
            <a:noAutofit/>
          </a:bodyPr>
          <a:lstStyle/>
          <a:p>
            <a:r>
              <a:rPr lang="en-AU" sz="4500" dirty="0"/>
              <a:t>Major Findings/Recommendations for Action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1437211" y="1907634"/>
            <a:ext cx="0" cy="54438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Straight Arrow Connector 5"/>
          <p:cNvCxnSpPr/>
          <p:nvPr/>
        </p:nvCxnSpPr>
        <p:spPr bwMode="auto">
          <a:xfrm>
            <a:off x="1662674" y="7618443"/>
            <a:ext cx="84681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4186035" y="7719547"/>
            <a:ext cx="4435693" cy="513987"/>
          </a:xfrm>
          <a:prstGeom prst="rect">
            <a:avLst/>
          </a:prstGeom>
          <a:noFill/>
        </p:spPr>
        <p:txBody>
          <a:bodyPr wrap="square" lIns="128016" tIns="64008" rIns="128016" bIns="64008" rtlCol="0">
            <a:spAutoFit/>
          </a:bodyPr>
          <a:lstStyle/>
          <a:p>
            <a:r>
              <a:rPr lang="en-AU" b="1" dirty="0"/>
              <a:t>Degree of Benefit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-1257024" y="4341984"/>
            <a:ext cx="4435693" cy="513987"/>
          </a:xfrm>
          <a:prstGeom prst="rect">
            <a:avLst/>
          </a:prstGeom>
          <a:noFill/>
        </p:spPr>
        <p:txBody>
          <a:bodyPr wrap="square" lIns="128016" tIns="64008" rIns="128016" bIns="64008" rtlCol="0">
            <a:spAutoFit/>
          </a:bodyPr>
          <a:lstStyle/>
          <a:p>
            <a:r>
              <a:rPr lang="en-AU" b="1" dirty="0"/>
              <a:t>Ease of Implementation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9324325" y="2071457"/>
            <a:ext cx="806490" cy="640080"/>
            <a:chOff x="6660232" y="1479612"/>
            <a:chExt cx="576064" cy="457200"/>
          </a:xfrm>
        </p:grpSpPr>
        <p:sp>
          <p:nvSpPr>
            <p:cNvPr id="13" name="TextBox 12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1a</a:t>
              </a:r>
              <a:endParaRPr lang="en-AU" b="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285532" y="2711537"/>
            <a:ext cx="806490" cy="640080"/>
            <a:chOff x="6660232" y="1479612"/>
            <a:chExt cx="576064" cy="457200"/>
          </a:xfrm>
        </p:grpSpPr>
        <p:sp>
          <p:nvSpPr>
            <p:cNvPr id="17" name="TextBox 16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29</a:t>
              </a:r>
              <a:endParaRPr lang="en-AU" b="1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525947" y="3243565"/>
            <a:ext cx="806490" cy="640080"/>
            <a:chOff x="6660232" y="1479612"/>
            <a:chExt cx="576064" cy="457200"/>
          </a:xfrm>
        </p:grpSpPr>
        <p:sp>
          <p:nvSpPr>
            <p:cNvPr id="20" name="TextBox 19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9</a:t>
              </a:r>
              <a:endParaRPr lang="en-AU" b="1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233256" y="3982665"/>
            <a:ext cx="806490" cy="640080"/>
            <a:chOff x="6660232" y="1479612"/>
            <a:chExt cx="576064" cy="457200"/>
          </a:xfrm>
        </p:grpSpPr>
        <p:sp>
          <p:nvSpPr>
            <p:cNvPr id="23" name="TextBox 22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1b</a:t>
              </a:r>
              <a:endParaRPr lang="en-AU" b="1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426766" y="2310624"/>
            <a:ext cx="806490" cy="640080"/>
            <a:chOff x="6660232" y="1479612"/>
            <a:chExt cx="576064" cy="457200"/>
          </a:xfrm>
        </p:grpSpPr>
        <p:sp>
          <p:nvSpPr>
            <p:cNvPr id="26" name="TextBox 25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17</a:t>
              </a:r>
              <a:endParaRPr lang="en-AU" b="1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584066" y="2556079"/>
            <a:ext cx="806490" cy="640080"/>
            <a:chOff x="6660232" y="1479612"/>
            <a:chExt cx="576064" cy="457200"/>
          </a:xfrm>
        </p:grpSpPr>
        <p:sp>
          <p:nvSpPr>
            <p:cNvPr id="29" name="TextBox 28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7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948518" y="3662625"/>
            <a:ext cx="806490" cy="640080"/>
            <a:chOff x="6660232" y="1479612"/>
            <a:chExt cx="576064" cy="457200"/>
          </a:xfrm>
        </p:grpSpPr>
        <p:sp>
          <p:nvSpPr>
            <p:cNvPr id="33" name="TextBox 32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30</a:t>
              </a:r>
              <a:endParaRPr lang="en-AU" b="1" dirty="0"/>
            </a:p>
          </p:txBody>
        </p:sp>
        <p:sp>
          <p:nvSpPr>
            <p:cNvPr id="34" name="Oval 33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703233" y="3628871"/>
            <a:ext cx="806490" cy="640080"/>
            <a:chOff x="6660232" y="1479612"/>
            <a:chExt cx="576064" cy="457200"/>
          </a:xfrm>
        </p:grpSpPr>
        <p:sp>
          <p:nvSpPr>
            <p:cNvPr id="36" name="TextBox 35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36</a:t>
              </a:r>
              <a:endParaRPr lang="en-AU" b="1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00636" y="2974434"/>
            <a:ext cx="806490" cy="640080"/>
            <a:chOff x="6660232" y="1479612"/>
            <a:chExt cx="576064" cy="457200"/>
          </a:xfrm>
        </p:grpSpPr>
        <p:sp>
          <p:nvSpPr>
            <p:cNvPr id="39" name="TextBox 38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4</a:t>
              </a:r>
              <a:r>
                <a:rPr lang="en-AU" b="1" dirty="0" smtClean="0"/>
                <a:t>6</a:t>
              </a:r>
              <a:endParaRPr lang="en-AU" b="1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873563" y="2445297"/>
            <a:ext cx="806490" cy="640080"/>
            <a:chOff x="6660232" y="1479612"/>
            <a:chExt cx="576064" cy="457200"/>
          </a:xfrm>
        </p:grpSpPr>
        <p:sp>
          <p:nvSpPr>
            <p:cNvPr id="42" name="TextBox 41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4</a:t>
              </a:r>
              <a:r>
                <a:rPr lang="en-AU" b="1" dirty="0"/>
                <a:t>5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830850" y="2098636"/>
            <a:ext cx="806490" cy="640080"/>
            <a:chOff x="6660232" y="1479612"/>
            <a:chExt cx="576064" cy="457200"/>
          </a:xfrm>
        </p:grpSpPr>
        <p:sp>
          <p:nvSpPr>
            <p:cNvPr id="45" name="TextBox 44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4</a:t>
              </a:r>
              <a:endParaRPr lang="en-AU" b="1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795933" y="4629537"/>
            <a:ext cx="806490" cy="640080"/>
            <a:chOff x="6660232" y="1479612"/>
            <a:chExt cx="576064" cy="457200"/>
          </a:xfrm>
        </p:grpSpPr>
        <p:sp>
          <p:nvSpPr>
            <p:cNvPr id="48" name="TextBox 47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5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905193" y="4655344"/>
            <a:ext cx="806490" cy="640080"/>
            <a:chOff x="6660232" y="1479612"/>
            <a:chExt cx="576064" cy="457200"/>
          </a:xfrm>
        </p:grpSpPr>
        <p:sp>
          <p:nvSpPr>
            <p:cNvPr id="51" name="TextBox 50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31</a:t>
              </a:r>
              <a:endParaRPr lang="en-AU" b="1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604210" y="5183557"/>
            <a:ext cx="806490" cy="640080"/>
            <a:chOff x="6660232" y="1479612"/>
            <a:chExt cx="576064" cy="457200"/>
          </a:xfrm>
        </p:grpSpPr>
        <p:sp>
          <p:nvSpPr>
            <p:cNvPr id="54" name="TextBox 53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19</a:t>
              </a:r>
              <a:endParaRPr lang="en-AU" b="1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8242633" y="5187372"/>
            <a:ext cx="806490" cy="640080"/>
            <a:chOff x="6660232" y="1479612"/>
            <a:chExt cx="576064" cy="457200"/>
          </a:xfrm>
        </p:grpSpPr>
        <p:sp>
          <p:nvSpPr>
            <p:cNvPr id="57" name="TextBox 56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13</a:t>
              </a:r>
              <a:endParaRPr lang="en-AU" b="1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9146764" y="5192100"/>
            <a:ext cx="806490" cy="640080"/>
            <a:chOff x="6660232" y="1479612"/>
            <a:chExt cx="576064" cy="457200"/>
          </a:xfrm>
        </p:grpSpPr>
        <p:sp>
          <p:nvSpPr>
            <p:cNvPr id="60" name="TextBox 59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12</a:t>
              </a:r>
              <a:endParaRPr lang="en-AU" b="1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800347" y="6176744"/>
            <a:ext cx="806490" cy="640080"/>
            <a:chOff x="6660232" y="1479612"/>
            <a:chExt cx="576064" cy="457200"/>
          </a:xfrm>
        </p:grpSpPr>
        <p:sp>
          <p:nvSpPr>
            <p:cNvPr id="63" name="TextBox 62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15</a:t>
              </a:r>
              <a:endParaRPr lang="en-AU" b="1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751224" y="6193771"/>
            <a:ext cx="806490" cy="640080"/>
            <a:chOff x="6660232" y="1479612"/>
            <a:chExt cx="576064" cy="457200"/>
          </a:xfrm>
        </p:grpSpPr>
        <p:sp>
          <p:nvSpPr>
            <p:cNvPr id="66" name="TextBox 65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22</a:t>
              </a:r>
              <a:endParaRPr lang="en-AU" b="1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9449492" y="6284796"/>
            <a:ext cx="806490" cy="640080"/>
            <a:chOff x="6660232" y="1479612"/>
            <a:chExt cx="576064" cy="457200"/>
          </a:xfrm>
        </p:grpSpPr>
        <p:sp>
          <p:nvSpPr>
            <p:cNvPr id="69" name="TextBox 68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3</a:t>
              </a:r>
            </a:p>
          </p:txBody>
        </p:sp>
        <p:sp>
          <p:nvSpPr>
            <p:cNvPr id="70" name="Oval 69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4182953" y="6124885"/>
            <a:ext cx="806490" cy="640080"/>
            <a:chOff x="6660232" y="1479612"/>
            <a:chExt cx="576064" cy="457200"/>
          </a:xfrm>
        </p:grpSpPr>
        <p:sp>
          <p:nvSpPr>
            <p:cNvPr id="72" name="TextBox 71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16</a:t>
              </a:r>
              <a:endParaRPr lang="en-AU" b="1" dirty="0"/>
            </a:p>
          </p:txBody>
        </p:sp>
        <p:sp>
          <p:nvSpPr>
            <p:cNvPr id="73" name="Oval 72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586198" y="3626501"/>
            <a:ext cx="806490" cy="640080"/>
            <a:chOff x="6660232" y="1479612"/>
            <a:chExt cx="576064" cy="457200"/>
          </a:xfrm>
        </p:grpSpPr>
        <p:sp>
          <p:nvSpPr>
            <p:cNvPr id="75" name="TextBox 74"/>
            <p:cNvSpPr txBox="1"/>
            <p:nvPr/>
          </p:nvSpPr>
          <p:spPr>
            <a:xfrm>
              <a:off x="6660232" y="1556792"/>
              <a:ext cx="576064" cy="340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 smtClean="0"/>
                <a:t>21</a:t>
              </a:r>
              <a:endParaRPr lang="en-AU" b="1" dirty="0"/>
            </a:p>
          </p:txBody>
        </p:sp>
        <p:sp>
          <p:nvSpPr>
            <p:cNvPr id="76" name="Oval 75"/>
            <p:cNvSpPr/>
            <p:nvPr/>
          </p:nvSpPr>
          <p:spPr>
            <a:xfrm>
              <a:off x="6751387" y="1479612"/>
              <a:ext cx="457200" cy="45720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105000"/>
                </a:lnSpc>
                <a:spcBef>
                  <a:spcPct val="60000"/>
                </a:spcBef>
                <a:spcAft>
                  <a:spcPct val="0"/>
                </a:spcAft>
              </a:pPr>
              <a:endParaRPr lang="en-AU" sz="2000" b="1">
                <a:latin typeface="Arial" charset="0"/>
                <a:cs typeface="Arial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528899" y="8981485"/>
            <a:ext cx="9169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Legend: Items in the Green zone offer the greatest benefit and/or are easiest to implement</a:t>
            </a:r>
            <a:endParaRPr lang="en-AU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10332437" y="1353636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- spatial view  contextualised to individual need</a:t>
            </a:r>
            <a:endParaRPr lang="en-AU" sz="1000" dirty="0"/>
          </a:p>
        </p:txBody>
      </p:sp>
      <p:cxnSp>
        <p:nvCxnSpPr>
          <p:cNvPr id="11" name="Straight Arrow Connector 10"/>
          <p:cNvCxnSpPr>
            <a:stCxn id="3" idx="1"/>
            <a:endCxn id="14" idx="7"/>
          </p:cNvCxnSpPr>
          <p:nvPr/>
        </p:nvCxnSpPr>
        <p:spPr>
          <a:xfrm flipH="1">
            <a:off x="9998284" y="1630635"/>
            <a:ext cx="334153" cy="534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793288" y="2657203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CFA to publish warnings in agreed standards (</a:t>
            </a:r>
            <a:r>
              <a:rPr lang="en-AU" sz="1000" dirty="0" err="1" smtClean="0"/>
              <a:t>eg</a:t>
            </a:r>
            <a:r>
              <a:rPr lang="en-AU" sz="1000" dirty="0" smtClean="0"/>
              <a:t> CAP1.2 / </a:t>
            </a:r>
            <a:r>
              <a:rPr lang="en-AU" sz="1000" dirty="0" err="1" smtClean="0"/>
              <a:t>GeoRSS</a:t>
            </a:r>
            <a:r>
              <a:rPr lang="en-AU" sz="1000" dirty="0" smtClean="0"/>
              <a:t>)</a:t>
            </a:r>
            <a:endParaRPr lang="en-AU" sz="1000" dirty="0"/>
          </a:p>
        </p:txBody>
      </p:sp>
      <p:cxnSp>
        <p:nvCxnSpPr>
          <p:cNvPr id="31" name="Straight Arrow Connector 30"/>
          <p:cNvCxnSpPr>
            <a:stCxn id="77" idx="1"/>
          </p:cNvCxnSpPr>
          <p:nvPr/>
        </p:nvCxnSpPr>
        <p:spPr>
          <a:xfrm flipH="1" flipV="1">
            <a:off x="10039746" y="2902658"/>
            <a:ext cx="753542" cy="315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698892" y="3402061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Information delivered to wide range of devices, anywhere anytime</a:t>
            </a:r>
            <a:endParaRPr lang="en-AU" sz="1000" dirty="0"/>
          </a:p>
        </p:txBody>
      </p:sp>
      <p:cxnSp>
        <p:nvCxnSpPr>
          <p:cNvPr id="80" name="Straight Arrow Connector 79"/>
          <p:cNvCxnSpPr>
            <a:stCxn id="78" idx="1"/>
            <a:endCxn id="20" idx="3"/>
          </p:cNvCxnSpPr>
          <p:nvPr/>
        </p:nvCxnSpPr>
        <p:spPr>
          <a:xfrm flipH="1" flipV="1">
            <a:off x="10332437" y="3590144"/>
            <a:ext cx="366455" cy="889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698892" y="4106747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– Highly  Internet enabled</a:t>
            </a:r>
            <a:endParaRPr lang="en-AU" sz="1000" dirty="0"/>
          </a:p>
        </p:txBody>
      </p:sp>
      <p:cxnSp>
        <p:nvCxnSpPr>
          <p:cNvPr id="83" name="Straight Arrow Connector 82"/>
          <p:cNvCxnSpPr>
            <a:stCxn id="81" idx="1"/>
            <a:endCxn id="23" idx="3"/>
          </p:cNvCxnSpPr>
          <p:nvPr/>
        </p:nvCxnSpPr>
        <p:spPr>
          <a:xfrm flipH="1">
            <a:off x="10039746" y="4306802"/>
            <a:ext cx="659146" cy="224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076135" y="1323077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– Ingest &amp; distribute red flag &amp; other warnings</a:t>
            </a:r>
            <a:endParaRPr lang="en-AU" sz="1000" dirty="0"/>
          </a:p>
        </p:txBody>
      </p:sp>
      <p:cxnSp>
        <p:nvCxnSpPr>
          <p:cNvPr id="86" name="Straight Arrow Connector 85"/>
          <p:cNvCxnSpPr>
            <a:stCxn id="84" idx="2"/>
          </p:cNvCxnSpPr>
          <p:nvPr/>
        </p:nvCxnSpPr>
        <p:spPr>
          <a:xfrm flipH="1">
            <a:off x="8874423" y="1723187"/>
            <a:ext cx="65808" cy="5874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99772" y="1297512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One website for Community viewing  of COP</a:t>
            </a:r>
            <a:endParaRPr lang="en-AU" sz="1000" dirty="0"/>
          </a:p>
        </p:txBody>
      </p:sp>
      <p:cxnSp>
        <p:nvCxnSpPr>
          <p:cNvPr id="89" name="Straight Arrow Connector 88"/>
          <p:cNvCxnSpPr>
            <a:stCxn id="87" idx="2"/>
            <a:endCxn id="46" idx="1"/>
          </p:cNvCxnSpPr>
          <p:nvPr/>
        </p:nvCxnSpPr>
        <p:spPr>
          <a:xfrm>
            <a:off x="6063868" y="1697622"/>
            <a:ext cx="988337" cy="494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917686" y="1229037"/>
            <a:ext cx="14340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Agencies publish incident data in common standard</a:t>
            </a:r>
            <a:endParaRPr lang="en-AU" sz="1000" dirty="0"/>
          </a:p>
        </p:txBody>
      </p:sp>
      <p:cxnSp>
        <p:nvCxnSpPr>
          <p:cNvPr id="94" name="Straight Arrow Connector 93"/>
          <p:cNvCxnSpPr>
            <a:stCxn id="90" idx="2"/>
            <a:endCxn id="30" idx="0"/>
          </p:cNvCxnSpPr>
          <p:nvPr/>
        </p:nvCxnSpPr>
        <p:spPr>
          <a:xfrm>
            <a:off x="7634725" y="1783035"/>
            <a:ext cx="396998" cy="77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446474" y="1343917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– Links to common plans relevant to hazard</a:t>
            </a:r>
            <a:endParaRPr lang="en-AU" sz="1000" dirty="0"/>
          </a:p>
        </p:txBody>
      </p:sp>
      <p:cxnSp>
        <p:nvCxnSpPr>
          <p:cNvPr id="97" name="Straight Arrow Connector 96"/>
          <p:cNvCxnSpPr>
            <a:stCxn id="95" idx="2"/>
            <a:endCxn id="43" idx="1"/>
          </p:cNvCxnSpPr>
          <p:nvPr/>
        </p:nvCxnSpPr>
        <p:spPr>
          <a:xfrm>
            <a:off x="4310570" y="1744027"/>
            <a:ext cx="1784348" cy="795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766514" y="2668663"/>
            <a:ext cx="1626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– include links to other services </a:t>
            </a:r>
            <a:endParaRPr lang="en-AU" sz="1000" dirty="0"/>
          </a:p>
        </p:txBody>
      </p:sp>
      <p:cxnSp>
        <p:nvCxnSpPr>
          <p:cNvPr id="100" name="Straight Arrow Connector 99"/>
          <p:cNvCxnSpPr>
            <a:stCxn id="98" idx="3"/>
            <a:endCxn id="40" idx="2"/>
          </p:cNvCxnSpPr>
          <p:nvPr/>
        </p:nvCxnSpPr>
        <p:spPr>
          <a:xfrm>
            <a:off x="5392688" y="2868718"/>
            <a:ext cx="735565" cy="425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698892" y="5223208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Agencies to publish potential incident data in agreed standards</a:t>
            </a:r>
            <a:endParaRPr lang="en-AU" sz="1000" dirty="0"/>
          </a:p>
        </p:txBody>
      </p:sp>
      <p:cxnSp>
        <p:nvCxnSpPr>
          <p:cNvPr id="104" name="Straight Arrow Connector 103"/>
          <p:cNvCxnSpPr>
            <a:stCxn id="102" idx="1"/>
            <a:endCxn id="61" idx="6"/>
          </p:cNvCxnSpPr>
          <p:nvPr/>
        </p:nvCxnSpPr>
        <p:spPr>
          <a:xfrm flipH="1">
            <a:off x="9914461" y="5500207"/>
            <a:ext cx="784431" cy="119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698892" y="6312822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Agencies to share incident info on resources &amp; location </a:t>
            </a:r>
            <a:endParaRPr lang="en-AU" sz="1000" dirty="0"/>
          </a:p>
        </p:txBody>
      </p:sp>
      <p:cxnSp>
        <p:nvCxnSpPr>
          <p:cNvPr id="107" name="Straight Arrow Connector 106"/>
          <p:cNvCxnSpPr>
            <a:stCxn id="105" idx="1"/>
          </p:cNvCxnSpPr>
          <p:nvPr/>
        </p:nvCxnSpPr>
        <p:spPr>
          <a:xfrm flipH="1">
            <a:off x="10217189" y="6512877"/>
            <a:ext cx="481703" cy="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2966778" y="3749207"/>
            <a:ext cx="1378911" cy="401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Share schedule of daily meetings/briefings</a:t>
            </a:r>
            <a:endParaRPr lang="en-AU" sz="1000" dirty="0"/>
          </a:p>
        </p:txBody>
      </p:sp>
      <p:cxnSp>
        <p:nvCxnSpPr>
          <p:cNvPr id="110" name="Straight Arrow Connector 109"/>
          <p:cNvCxnSpPr>
            <a:stCxn id="108" idx="3"/>
            <a:endCxn id="76" idx="2"/>
          </p:cNvCxnSpPr>
          <p:nvPr/>
        </p:nvCxnSpPr>
        <p:spPr>
          <a:xfrm flipV="1">
            <a:off x="4345689" y="3946541"/>
            <a:ext cx="368126" cy="32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322717" y="4737588"/>
            <a:ext cx="13602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Capture significance of each incident &amp; display this</a:t>
            </a:r>
            <a:endParaRPr lang="en-AU" sz="1000" dirty="0"/>
          </a:p>
        </p:txBody>
      </p:sp>
      <p:cxnSp>
        <p:nvCxnSpPr>
          <p:cNvPr id="114" name="Straight Arrow Connector 113"/>
          <p:cNvCxnSpPr>
            <a:stCxn id="112" idx="3"/>
            <a:endCxn id="49" idx="2"/>
          </p:cNvCxnSpPr>
          <p:nvPr/>
        </p:nvCxnSpPr>
        <p:spPr>
          <a:xfrm flipV="1">
            <a:off x="5682968" y="4949577"/>
            <a:ext cx="240582" cy="65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550983" y="6115848"/>
            <a:ext cx="14622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display should meet approved accessibility standards</a:t>
            </a:r>
            <a:endParaRPr lang="en-AU" sz="1000" dirty="0"/>
          </a:p>
        </p:txBody>
      </p:sp>
      <p:cxnSp>
        <p:nvCxnSpPr>
          <p:cNvPr id="118" name="Straight Arrow Connector 117"/>
          <p:cNvCxnSpPr>
            <a:stCxn id="116" idx="3"/>
            <a:endCxn id="73" idx="2"/>
          </p:cNvCxnSpPr>
          <p:nvPr/>
        </p:nvCxnSpPr>
        <p:spPr>
          <a:xfrm>
            <a:off x="4013252" y="6392847"/>
            <a:ext cx="297318" cy="520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086612" y="6535280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Warnings from Agencies (</a:t>
            </a:r>
            <a:r>
              <a:rPr lang="en-AU" sz="1000" dirty="0" err="1" smtClean="0"/>
              <a:t>eg</a:t>
            </a:r>
            <a:r>
              <a:rPr lang="en-AU" sz="1000" dirty="0" smtClean="0"/>
              <a:t> BOM) to publish warnings  in agreed standards</a:t>
            </a:r>
            <a:endParaRPr lang="en-AU" sz="1000" dirty="0"/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6830850" y="6712932"/>
            <a:ext cx="127617" cy="1569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6033682" y="5568608"/>
            <a:ext cx="1469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COP views selectable as pre-configured options</a:t>
            </a:r>
            <a:endParaRPr lang="en-AU" sz="1000" dirty="0"/>
          </a:p>
        </p:txBody>
      </p:sp>
      <p:cxnSp>
        <p:nvCxnSpPr>
          <p:cNvPr id="125" name="Straight Arrow Connector 124"/>
          <p:cNvCxnSpPr>
            <a:endCxn id="55" idx="3"/>
          </p:cNvCxnSpPr>
          <p:nvPr/>
        </p:nvCxnSpPr>
        <p:spPr>
          <a:xfrm flipV="1">
            <a:off x="7509723" y="5729899"/>
            <a:ext cx="315842" cy="387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8444907" y="6824034"/>
            <a:ext cx="1257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Allow users to setup filters &amp; triggers</a:t>
            </a:r>
            <a:endParaRPr lang="en-AU" sz="1000" dirty="0"/>
          </a:p>
        </p:txBody>
      </p:sp>
      <p:cxnSp>
        <p:nvCxnSpPr>
          <p:cNvPr id="1024" name="Straight Arrow Connector 1023"/>
          <p:cNvCxnSpPr>
            <a:stCxn id="127" idx="1"/>
            <a:endCxn id="67" idx="4"/>
          </p:cNvCxnSpPr>
          <p:nvPr/>
        </p:nvCxnSpPr>
        <p:spPr>
          <a:xfrm flipH="1" flipV="1">
            <a:off x="8198881" y="6833851"/>
            <a:ext cx="246026" cy="190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453689" y="5968372"/>
            <a:ext cx="1410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Tailor display to suit requirement</a:t>
            </a:r>
            <a:endParaRPr lang="en-AU" sz="1000" dirty="0"/>
          </a:p>
        </p:txBody>
      </p:sp>
      <p:cxnSp>
        <p:nvCxnSpPr>
          <p:cNvPr id="1027" name="Straight Arrow Connector 1026"/>
          <p:cNvCxnSpPr>
            <a:stCxn id="130" idx="0"/>
            <a:endCxn id="58" idx="4"/>
          </p:cNvCxnSpPr>
          <p:nvPr/>
        </p:nvCxnSpPr>
        <p:spPr>
          <a:xfrm flipH="1" flipV="1">
            <a:off x="8690290" y="5827452"/>
            <a:ext cx="468828" cy="140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111053" y="3214404"/>
            <a:ext cx="1483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Publish data in standard form for Social Media</a:t>
            </a:r>
            <a:endParaRPr lang="en-AU" sz="1000" dirty="0"/>
          </a:p>
        </p:txBody>
      </p:sp>
      <p:cxnSp>
        <p:nvCxnSpPr>
          <p:cNvPr id="1032" name="Straight Arrow Connector 1031"/>
          <p:cNvCxnSpPr>
            <a:endCxn id="34" idx="7"/>
          </p:cNvCxnSpPr>
          <p:nvPr/>
        </p:nvCxnSpPr>
        <p:spPr>
          <a:xfrm flipH="1">
            <a:off x="8622477" y="3614514"/>
            <a:ext cx="207535" cy="141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482534" y="3897384"/>
            <a:ext cx="12857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Emergency response </a:t>
            </a:r>
            <a:r>
              <a:rPr lang="en-AU" sz="1000" dirty="0" err="1" smtClean="0"/>
              <a:t>facilties</a:t>
            </a:r>
            <a:r>
              <a:rPr lang="en-AU" sz="1000" dirty="0" smtClean="0"/>
              <a:t> included in COP</a:t>
            </a:r>
            <a:endParaRPr lang="en-AU" sz="1000" dirty="0"/>
          </a:p>
        </p:txBody>
      </p:sp>
      <p:cxnSp>
        <p:nvCxnSpPr>
          <p:cNvPr id="1034" name="Straight Arrow Connector 1033"/>
          <p:cNvCxnSpPr>
            <a:stCxn id="139" idx="3"/>
            <a:endCxn id="37" idx="3"/>
          </p:cNvCxnSpPr>
          <p:nvPr/>
        </p:nvCxnSpPr>
        <p:spPr>
          <a:xfrm>
            <a:off x="6768332" y="4174383"/>
            <a:ext cx="156256" cy="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7824547" y="4390745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Assets at risk  info from  impact by fire </a:t>
            </a:r>
            <a:r>
              <a:rPr lang="en-AU" sz="1000" dirty="0" err="1" smtClean="0"/>
              <a:t>etc</a:t>
            </a:r>
            <a:r>
              <a:rPr lang="en-AU" sz="1000" dirty="0" smtClean="0"/>
              <a:t> to be available in advance  in the COP</a:t>
            </a:r>
            <a:endParaRPr lang="en-AU" sz="1000" dirty="0"/>
          </a:p>
        </p:txBody>
      </p:sp>
      <p:cxnSp>
        <p:nvCxnSpPr>
          <p:cNvPr id="1037" name="Straight Arrow Connector 1036"/>
          <p:cNvCxnSpPr>
            <a:endCxn id="52" idx="6"/>
          </p:cNvCxnSpPr>
          <p:nvPr/>
        </p:nvCxnSpPr>
        <p:spPr>
          <a:xfrm flipH="1">
            <a:off x="7672890" y="4860800"/>
            <a:ext cx="151657" cy="1145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52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224</Words>
  <Application>Microsoft Office PowerPoint</Application>
  <PresentationFormat>A3 Paper (297x420 mm)</PresentationFormat>
  <Paragraphs>46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Major Findings/Recommendations for Action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Findings/Recommendations for Action</dc:title>
  <dc:creator>Event Equipment</dc:creator>
  <cp:lastModifiedBy>Event Equipment</cp:lastModifiedBy>
  <cp:revision>9</cp:revision>
  <dcterms:created xsi:type="dcterms:W3CDTF">2011-11-17T21:35:18Z</dcterms:created>
  <dcterms:modified xsi:type="dcterms:W3CDTF">2011-11-18T01:27:58Z</dcterms:modified>
</cp:coreProperties>
</file>